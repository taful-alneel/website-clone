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718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POWER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Businesses Control Prices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154680"/>
            <a:ext cx="27432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·  Economics Presentation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Market Power?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FDE8BC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of a business to set prices ABOVE the market rate — rather than just accepting whatever the market dictates.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this way: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28700" y="3154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 Power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wheat farmer must accept today's wheat price. Everyone sells the same product.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30175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394960" y="3154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Market Power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520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can charge $1,000+ for an iPhone because it's uniquely desirable.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Sources of Market Power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41732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3898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Brand Name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trust and keep buying the brand (e.g. Nike, Apple).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10912" y="141732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23560" y="13898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Differentiation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10912" y="193852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features make customers prefer your product over rivals.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329184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32644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Barriers to Entry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" y="381304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 new companies to join — they lack capital, tech, or licences.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46320" y="306324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10912" y="329184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23560" y="326440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Market Share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10912" y="381304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many customers gives power over pricing and competition.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Product Differentiation Builds Market Power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7889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37160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unique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design, quality, features or branding.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2148840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18688" y="1234440"/>
            <a:ext cx="27889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5968" y="137160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15968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01568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competition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26060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substitute — customers can't easily switch.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53328" y="2148840"/>
            <a:ext cx="73152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61888" y="2148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63056" y="1234440"/>
            <a:ext cx="2788920" cy="2103120"/>
          </a:xfrm>
          <a:prstGeom prst="roundRect">
            <a:avLst>
              <a:gd name="adj" fmla="val 5217"/>
            </a:avLst>
          </a:prstGeom>
          <a:solidFill>
            <a:srgbClr val="1B2A4A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60336" y="1371600"/>
            <a:ext cx="59436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0336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45936" y="2103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more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0216" y="26060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willing to pay higher prices = more market power.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8412480" cy="1234440"/>
          </a:xfrm>
          <a:prstGeom prst="roundRect">
            <a:avLst>
              <a:gd name="adj" fmla="val 7407"/>
            </a:avLst>
          </a:prstGeom>
          <a:solidFill>
            <a:srgbClr val="FDE8BC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11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Real Example: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Starbucks differentiates through ambience, branding and customization. You can get coffee anywhere for $1 — but millions pay $6 at Starbucks because it feels different.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Lerner Index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1143000"/>
            <a:ext cx="5486400" cy="123444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 w="25400">
            <a:solidFill>
              <a:srgbClr val="F5A623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920240" y="1234440"/>
            <a:ext cx="5303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Lerner Index  =  (Price − Marginal Cost) ÷ Price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670048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700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" y="3337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Competition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76732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equals cost. No market power at all.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256032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67328" y="2670048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26700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64408" y="3337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Monopoly Power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64408" y="376732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far exceeds cost. Very strong market power.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25896" y="2560320"/>
            <a:ext cx="26517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0256" y="2670048"/>
            <a:ext cx="1463040" cy="594360"/>
          </a:xfrm>
          <a:prstGeom prst="roundRect">
            <a:avLst>
              <a:gd name="adj" fmla="val 12308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267004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17336" y="3337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Somewhere in between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17336" y="3767328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value = more market power and less competition.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 of Market Power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931920" cy="3611880"/>
          </a:xfrm>
          <a:prstGeom prst="roundRect">
            <a:avLst>
              <a:gd name="adj" fmla="val 3038"/>
            </a:avLst>
          </a:prstGeom>
          <a:solidFill>
            <a:srgbClr val="F0FBF4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3444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POSITIVE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profits for businesses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funding for innovation &amp; R&amp;D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brand and product quality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1143000"/>
            <a:ext cx="3931920" cy="3611880"/>
          </a:xfrm>
          <a:prstGeom prst="roundRect">
            <a:avLst>
              <a:gd name="adj" fmla="val 3038"/>
            </a:avLst>
          </a:prstGeom>
          <a:solidFill>
            <a:srgbClr val="FEF5F5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1234440"/>
            <a:ext cx="3474720" cy="54864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234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NEGATIVE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19659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prices for consumers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6517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competition &amp; fewer choices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3337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may become inefficient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24528" y="2468880"/>
            <a:ext cx="694944" cy="694944"/>
          </a:xfrm>
          <a:prstGeom prst="ellipse">
            <a:avLst/>
          </a:prstGeom>
          <a:solidFill>
            <a:srgbClr val="1B2A4A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24528" y="24688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Discussion Question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005840"/>
          </a:xfrm>
          <a:prstGeom prst="roundRect">
            <a:avLst>
              <a:gd name="adj" fmla="val 10909"/>
            </a:avLst>
          </a:prstGeom>
          <a:solidFill>
            <a:srgbClr val="243559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78992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market power always harmful to consumers?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Answer: NO — it depends on how it is used.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E33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834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Market power can fund innovation — a phone company earns high profits and invests in better technology.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E336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8862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BUT if a company charges too much or blocks competition, consumers pay more and have fewer choices.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243559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70432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704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power = ability to set prices above market rate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243559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03120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121408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comes from branding, differentiation, barriers &amp; market share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243559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035808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0358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054096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Lerner Index measures it: closer to 1 = more power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" y="3895344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243559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968496"/>
            <a:ext cx="658368" cy="6583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6849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986784"/>
            <a:ext cx="7040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good (innovation) or bad (high prices, less choice)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·  Thank You!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On-screen Show (16:9)</PresentationFormat>
  <Paragraphs>83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Power</dc:title>
  <dc:subject>PptxGenJS Presentation</dc:subject>
  <dc:creator>PptxGenJS</dc:creator>
  <cp:lastModifiedBy>Shimael MBONYUMUGENZI</cp:lastModifiedBy>
  <cp:revision>2</cp:revision>
  <dcterms:created xsi:type="dcterms:W3CDTF">2026-06-10T12:11:55Z</dcterms:created>
  <dcterms:modified xsi:type="dcterms:W3CDTF">2026-06-16T06:05:23Z</dcterms:modified>
</cp:coreProperties>
</file>